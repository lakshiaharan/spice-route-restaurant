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C58C1F"/>
                </a:solidFill>
                <a:latin typeface="Arial"/>
              </a:defRPr>
            </a:pPr>
            <a:r>
              <a:t>AWS CLOUD COMPUTING CAPSTONE PLATFORM</a:t>
            </a:r>
          </a:p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🌿 Spice Route</a:t>
            </a:r>
          </a:p>
          <a:p>
            <a:pPr>
              <a:spcAft>
                <a:spcPts val="2800"/>
              </a:spcAft>
              <a:defRPr sz="2000">
                <a:solidFill>
                  <a:srgbClr val="CBD5E1"/>
                </a:solidFill>
                <a:latin typeface="Arial"/>
              </a:defRPr>
            </a:pPr>
            <a:r>
              <a:t>Decoupled Cloud Kitchen &amp; Smart Restaurant Management Platform</a:t>
            </a:r>
          </a:p>
          <a:p>
            <a:pPr>
              <a:defRPr sz="1300" b="1">
                <a:solidFill>
                  <a:srgbClr val="C58C1F"/>
                </a:solidFill>
                <a:latin typeface="Arial"/>
              </a:defRPr>
            </a:pPr>
            <a:r>
              <a:t>☁️ Amazon EC2 (Ubuntu)  •  🗄️ Amazon DynamoDB NoSQL  •  🪣 Amazon S3  •  ⚡ Vercel Edge  •  🔐 AWS IAM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C58C1F"/>
                </a:solidFill>
                <a:latin typeface="Arial"/>
              </a:defRPr>
            </a:pPr>
            <a:r>
              <a:t>SPICE ROUTE — CLOUD COMPUTING ARCHITECTURE</a:t>
            </a:r>
          </a:p>
          <a:p>
            <a:pPr>
              <a:defRPr sz="2400" b="1">
                <a:solidFill>
                  <a:srgbClr val="7A1F1F"/>
                </a:solidFill>
                <a:latin typeface="Arial"/>
              </a:defRPr>
            </a:pPr>
            <a:r>
              <a:t>The Real-World Problem in Restaurant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7A1F1F"/>
                </a:solidFill>
                <a:latin typeface="Arial"/>
              </a:defRPr>
            </a:pPr>
            <a:r>
              <a:t>💸 High Infrastructure Costs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Monolithic on-premise servers require expensive hardware and 24/7 overprovisioning even during idle hours.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7A1F1F"/>
                </a:solidFill>
                <a:latin typeface="Arial"/>
              </a:defRPr>
            </a:pPr>
            <a:r>
              <a:t>💥 Flash Rush Downtime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Single server architectures crash during lunch/dinner peak bursts due to strict relational connection-pool limits.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1188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7A1F1F"/>
                </a:solidFill>
                <a:latin typeface="Arial"/>
              </a:defRPr>
            </a:pPr>
            <a:r>
              <a:t>🛵 Disconnected Operations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Kitchen staff, delivery drivers, and customers lack a synchronized real-time state machine for order progression.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61188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7A1F1F"/>
                </a:solidFill>
                <a:latin typeface="Arial"/>
              </a:defRPr>
            </a:pPr>
            <a:r>
              <a:t>🥗 Dietary Blindspots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Traditional menus lack intelligent macronutrient and allergen filtering, compromising diner safety and dietary needs.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852160"/>
            <a:ext cx="10728655" cy="640080"/>
          </a:xfrm>
          <a:prstGeom prst="roundRect">
            <a:avLst/>
          </a:prstGeom>
          <a:solidFill>
            <a:srgbClr val="FEF9EE"/>
          </a:solidFill>
          <a:ln w="12700">
            <a:solidFill>
              <a:srgbClr val="C58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 bIns="91440"/>
          <a:lstStyle/>
          <a:p>
            <a:pPr algn="ctr">
              <a:defRPr sz="1100" b="0">
                <a:solidFill>
                  <a:srgbClr val="0F172A"/>
                </a:solidFill>
                <a:latin typeface="Arial"/>
              </a:defRPr>
            </a:pPr>
            <a:r>
              <a:rPr b="1"/>
              <a:t>💡 Speaker Cue (What to say): Explain how monolithic restaurant software fails during flash meal rushes and why decoupled cloud computing is mandatory.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C58C1F"/>
                </a:solidFill>
                <a:latin typeface="Arial"/>
              </a:defRPr>
            </a:pPr>
            <a:r>
              <a:t>SPICE ROUTE — CLOUD COMPUTING ARCHITECTURE</a:t>
            </a:r>
          </a:p>
          <a:p>
            <a:pPr>
              <a:defRPr sz="2400" b="1">
                <a:solidFill>
                  <a:srgbClr val="7A1F1F"/>
                </a:solidFill>
                <a:latin typeface="Arial"/>
              </a:defRPr>
            </a:pPr>
            <a:r>
              <a:t>Decoupled 3-Tier Cloud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7A1F1F"/>
                </a:solidFill>
                <a:latin typeface="Arial"/>
              </a:defRPr>
            </a:pPr>
            <a:r>
              <a:t>1. Presentation Tier</a:t>
            </a:r>
          </a:p>
          <a:p>
            <a:pPr>
              <a:spcAft>
                <a:spcPts val="1200"/>
              </a:spcAft>
              <a:defRPr sz="1200" b="1">
                <a:solidFill>
                  <a:srgbClr val="C58C1F"/>
                </a:solidFill>
                <a:latin typeface="Arial"/>
              </a:defRPr>
            </a:pPr>
            <a:r>
              <a:t>Amazon S3 &amp; Vercel Edge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100% static asset offloading (HTML/CSS/JS/Images)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Sub-50ms global Anycast edge delivery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Zero CPU drain on backend servers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74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7A1F1F"/>
                </a:solidFill>
                <a:latin typeface="Arial"/>
              </a:defRPr>
            </a:pPr>
            <a:r>
              <a:t>2. Compute Tier</a:t>
            </a:r>
          </a:p>
          <a:p>
            <a:pPr>
              <a:spcAft>
                <a:spcPts val="1200"/>
              </a:spcAft>
              <a:defRPr sz="1200" b="1">
                <a:solidFill>
                  <a:srgbClr val="C58C1F"/>
                </a:solidFill>
                <a:latin typeface="Arial"/>
              </a:defRPr>
            </a:pPr>
            <a:r>
              <a:t>AWS EC2 t2.micro (Ubuntu 24.04)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Stateless Node.js / Express / TypeScript REST API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PM2 supervisor for auto-restart &amp; crash recovery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Daemonized background service on Port 3000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74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7A1F1F"/>
                </a:solidFill>
                <a:latin typeface="Arial"/>
              </a:defRPr>
            </a:pPr>
            <a:r>
              <a:t>3. Persistence Tier</a:t>
            </a:r>
          </a:p>
          <a:p>
            <a:pPr>
              <a:spcAft>
                <a:spcPts val="1200"/>
              </a:spcAft>
              <a:defRPr sz="1200" b="1">
                <a:solidFill>
                  <a:srgbClr val="C58C1F"/>
                </a:solidFill>
                <a:latin typeface="Arial"/>
              </a:defRPr>
            </a:pPr>
            <a:r>
              <a:t>Amazon DynamoDB NoSQL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Single-digit millisecond latency reads &amp; writes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Single-table partition keys (orderId, bookingId)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On-Demand automatic horizontal scaling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852160"/>
            <a:ext cx="10728655" cy="640080"/>
          </a:xfrm>
          <a:prstGeom prst="roundRect">
            <a:avLst/>
          </a:prstGeom>
          <a:solidFill>
            <a:srgbClr val="FEF9EE"/>
          </a:solidFill>
          <a:ln w="12700">
            <a:solidFill>
              <a:srgbClr val="C58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 bIns="91440"/>
          <a:lstStyle/>
          <a:p>
            <a:pPr algn="ctr">
              <a:defRPr sz="1100" b="0">
                <a:solidFill>
                  <a:srgbClr val="0F172A"/>
                </a:solidFill>
                <a:latin typeface="Arial"/>
              </a:defRPr>
            </a:pPr>
            <a:r>
              <a:rPr b="1"/>
              <a:t>💡 Speaker Cue (What to say): Emphasize physical separation between static web hosting and EC2 compute, ensuring high availability and zero bottlenecking.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C58C1F"/>
                </a:solidFill>
                <a:latin typeface="Arial"/>
              </a:defRPr>
            </a:pPr>
            <a:r>
              <a:t>SPICE ROUTE — CLOUD COMPUTING ARCHITECTURE</a:t>
            </a:r>
          </a:p>
          <a:p>
            <a:pPr>
              <a:defRPr sz="2400" b="1">
                <a:solidFill>
                  <a:srgbClr val="7A1F1F"/>
                </a:solidFill>
                <a:latin typeface="Arial"/>
              </a:defRPr>
            </a:pPr>
            <a:r>
              <a:t>Enterprise IAM Security &amp; Zero-Cost Cloud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500" b="1">
                <a:solidFill>
                  <a:srgbClr val="7A1F1F"/>
                </a:solidFill>
                <a:latin typeface="Arial"/>
              </a:defRPr>
            </a:pPr>
            <a:r>
              <a:t>🔐 IAM Instance Profile Security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Role-Based Access Control: Attached RestaurantEC2DynamoDBRole to EC2.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Zero Hardcoded Secrets: No AWS secret keys exist in codebase or .env.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Automatic Token Rotation: AWS SDK fetches short-lived STS credentials via IMDS.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500" b="1">
                <a:solidFill>
                  <a:srgbClr val="7A1F1F"/>
                </a:solidFill>
                <a:latin typeface="Arial"/>
              </a:defRPr>
            </a:pPr>
            <a:r>
              <a:t>💰 100% AWS Free-Tier Optimized ($0.00)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Compute: AWS EC2 t2.micro (750 free hours/month covering 24/7 uptime).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Database: Amazon DynamoDB (25 GB free storage + 25 RCU/WCU).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Storage: Amazon S3 (5 GB free tier storage with public bucket policies).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52160"/>
            <a:ext cx="10728655" cy="640080"/>
          </a:xfrm>
          <a:prstGeom prst="roundRect">
            <a:avLst/>
          </a:prstGeom>
          <a:solidFill>
            <a:srgbClr val="FEF9EE"/>
          </a:solidFill>
          <a:ln w="12700">
            <a:solidFill>
              <a:srgbClr val="C58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 bIns="91440"/>
          <a:lstStyle/>
          <a:p>
            <a:pPr algn="ctr">
              <a:defRPr sz="1100" b="0">
                <a:solidFill>
                  <a:srgbClr val="0F172A"/>
                </a:solidFill>
                <a:latin typeface="Arial"/>
              </a:defRPr>
            </a:pPr>
            <a:r>
              <a:rPr b="1"/>
              <a:t>💡 Speaker Cue (What to say): Mention Principle of Least Privilege via IAM Roles and confirm total monthly cloud expenditure is exactly $0.00.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C58C1F"/>
                </a:solidFill>
                <a:latin typeface="Arial"/>
              </a:defRPr>
            </a:pPr>
            <a:r>
              <a:t>SPICE ROUTE — CLOUD COMPUTING ARCHITECTURE</a:t>
            </a:r>
          </a:p>
          <a:p>
            <a:pPr>
              <a:defRPr sz="2400" b="1">
                <a:solidFill>
                  <a:srgbClr val="7A1F1F"/>
                </a:solidFill>
                <a:latin typeface="Arial"/>
              </a:defRPr>
            </a:pPr>
            <a:r>
              <a:t>Key Platform Innovations &amp;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7A1F1F"/>
                </a:solidFill>
                <a:latin typeface="Arial"/>
              </a:defRPr>
            </a:pPr>
            <a:r>
              <a:t>🧠 Smart AI Dietary Sommelier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Multi-variable knowledge graph evaluating strict Boolean exclusions (Vegan, Gluten-Free, Nut-Free, Jain), continuous calorie slider budgets, and high-protein descending sorting.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7A1F1F"/>
                </a:solidFill>
                <a:latin typeface="Arial"/>
              </a:defRPr>
            </a:pPr>
            <a:r>
              <a:t>🍳 Real-Time Kitchen KDS Kanban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Interactive 4-column state machine coordinating ticket transitions (Order Placed ➔ In Preparation ➔ Out for Delivery ➔ Delivered) with live driver dispatch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1188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7A1F1F"/>
                </a:solidFill>
                <a:latin typeface="Arial"/>
              </a:defRPr>
            </a:pPr>
            <a:r>
              <a:t>📦 5-Stage Live Visual Tracker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End-to-end customer order tracker with live stepper progression, assigned driver details (Name, Electric Bike, Contact), and stage simulation.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61188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7A1F1F"/>
                </a:solidFill>
                <a:latin typeface="Arial"/>
              </a:defRPr>
            </a:pPr>
            <a:r>
              <a:t>📊 CloudOps Stress Testing Engine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In-browser load generator simulating concurrent virtual user bursts against the live EC2 instance to benchmark latency (ms), throughput (Req/s), and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852160"/>
            <a:ext cx="10728655" cy="640080"/>
          </a:xfrm>
          <a:prstGeom prst="roundRect">
            <a:avLst/>
          </a:prstGeom>
          <a:solidFill>
            <a:srgbClr val="FEF9EE"/>
          </a:solidFill>
          <a:ln w="12700">
            <a:solidFill>
              <a:srgbClr val="C58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 bIns="91440"/>
          <a:lstStyle/>
          <a:p>
            <a:pPr algn="ctr">
              <a:defRPr sz="1100" b="0">
                <a:solidFill>
                  <a:srgbClr val="0F172A"/>
                </a:solidFill>
                <a:latin typeface="Arial"/>
              </a:defRPr>
            </a:pPr>
            <a:r>
              <a:rPr b="1"/>
              <a:t>💡 Speaker Cue (What to say): Highlight that our platform goes beyond ordering by integrating AI dietary safety, kitchen operations, and cloud observability.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C58C1F"/>
                </a:solidFill>
                <a:latin typeface="Arial"/>
              </a:defRPr>
            </a:pPr>
            <a:r>
              <a:t>SPICE ROUTE — CLOUD COMPUTING ARCHITECTURE</a:t>
            </a:r>
          </a:p>
          <a:p>
            <a:pPr>
              <a:defRPr sz="2400" b="1">
                <a:solidFill>
                  <a:srgbClr val="7A1F1F"/>
                </a:solidFill>
                <a:latin typeface="Arial"/>
              </a:defRPr>
            </a:pPr>
            <a:r>
              <a:t>5-Step Live Demonstration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728655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7A1F1F"/>
                </a:solidFill>
                <a:latin typeface="Arial"/>
              </a:defRPr>
            </a:pPr>
            <a:r>
              <a:t>Step 1: Open Menu — </a:t>
            </a:r>
            <a:r>
              <a:rPr sz="1200" b="0">
                <a:solidFill>
                  <a:srgbClr val="334155"/>
                </a:solidFill>
                <a:latin typeface="Arial"/>
              </a:rPr>
              <a:t>Showcase 21 curated signature pure-veg items with 1-to-1 authentic HD photography and live search.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04872"/>
            <a:ext cx="10728655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7A1F1F"/>
                </a:solidFill>
                <a:latin typeface="Arial"/>
              </a:defRPr>
            </a:pPr>
            <a:r>
              <a:t>Step 2: AI Sommelier — </a:t>
            </a:r>
            <a:r>
              <a:rPr sz="1200" b="0">
                <a:solidFill>
                  <a:srgbClr val="334155"/>
                </a:solidFill>
                <a:latin typeface="Arial"/>
              </a:rPr>
              <a:t>Click '100% Vegan' (dairy vanishes), adjust Calorie Slider to 150 kcal, click 'High Protein'.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9544"/>
            <a:ext cx="10728655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7A1F1F"/>
                </a:solidFill>
                <a:latin typeface="Arial"/>
              </a:defRPr>
            </a:pPr>
            <a:r>
              <a:t>Step 3: Kitchen KDS — </a:t>
            </a:r>
            <a:r>
              <a:rPr sz="1200" b="0">
                <a:solidFill>
                  <a:srgbClr val="334155"/>
                </a:solidFill>
                <a:latin typeface="Arial"/>
              </a:rPr>
              <a:t>Click 'Create Sample Ticket' ➔ click 'Accept &amp; Cook' ➔ click 'Track Order' to show live 5-stage stepper.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14216"/>
            <a:ext cx="10728655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7A1F1F"/>
                </a:solidFill>
                <a:latin typeface="Arial"/>
              </a:defRPr>
            </a:pPr>
            <a:r>
              <a:t>Step 4: Stress Test — </a:t>
            </a:r>
            <a:r>
              <a:rPr sz="1200" b="0">
                <a:solidFill>
                  <a:srgbClr val="334155"/>
                </a:solidFill>
                <a:latin typeface="Arial"/>
              </a:rPr>
              <a:t>Open Cloud Observability ➔ select Medium Load (30 users) ➔ execute live HTTP burst against EC2.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18888"/>
            <a:ext cx="10728655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7A1F1F"/>
                </a:solidFill>
                <a:latin typeface="Arial"/>
              </a:defRPr>
            </a:pPr>
            <a:r>
              <a:t>Step 5: EC2 Health API — </a:t>
            </a:r>
            <a:r>
              <a:rPr sz="1200" b="0">
                <a:solidFill>
                  <a:srgbClr val="334155"/>
                </a:solidFill>
                <a:latin typeface="Arial"/>
              </a:rPr>
              <a:t>Open /health endpoint in new tab ➔ show status UP, uptime, and connected DynamoDB telemetry.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52160"/>
            <a:ext cx="10728655" cy="640080"/>
          </a:xfrm>
          <a:prstGeom prst="roundRect">
            <a:avLst/>
          </a:prstGeom>
          <a:solidFill>
            <a:srgbClr val="FEF9EE"/>
          </a:solidFill>
          <a:ln w="12700">
            <a:solidFill>
              <a:srgbClr val="C58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 bIns="91440"/>
          <a:lstStyle/>
          <a:p>
            <a:pPr algn="ctr">
              <a:defRPr sz="1100" b="0">
                <a:solidFill>
                  <a:srgbClr val="0F172A"/>
                </a:solidFill>
                <a:latin typeface="Arial"/>
              </a:defRPr>
            </a:pPr>
            <a:r>
              <a:rPr b="1"/>
              <a:t>💡 Speaker Cue (What to say): Follow this exact chronological sequence during the screen share to deliver a seamless, high-scoring live demo.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C58C1F"/>
                </a:solidFill>
                <a:latin typeface="Arial"/>
              </a:defRPr>
            </a:pPr>
            <a:r>
              <a:t>SPICE ROUTE — CLOUD COMPUTING ARCHITECTURE</a:t>
            </a:r>
          </a:p>
          <a:p>
            <a:pPr>
              <a:defRPr sz="2400" b="1">
                <a:solidFill>
                  <a:srgbClr val="7A1F1F"/>
                </a:solidFill>
                <a:latin typeface="Arial"/>
              </a:defRPr>
            </a:pPr>
            <a:r>
              <a:t>Technical Viva Defense (Architecture &amp; Database)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1000"/>
              </a:spcAft>
              <a:defRPr sz="1300" b="1">
                <a:solidFill>
                  <a:srgbClr val="7A1F1F"/>
                </a:solidFill>
                <a:latin typeface="Arial"/>
              </a:defRPr>
            </a:pPr>
            <a:r>
              <a:t>Q1: Why DynamoDB over MySQL / MongoDB?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• Fully managed serverless NoSQL with predictable single-digit ms latency.</a:t>
            </a:r>
            <a:br/>
            <a:r>
              <a:t>• Eliminates connection pooling limits during peak dinner flash rushes.</a:t>
            </a:r>
            <a:br/>
            <a:r>
              <a:t>• Key-value single-table partition indexing (orderId, bookingId) auto-scales horizontally.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74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1000"/>
              </a:spcAft>
              <a:defRPr sz="1300" b="1">
                <a:solidFill>
                  <a:srgbClr val="7A1F1F"/>
                </a:solidFill>
                <a:latin typeface="Arial"/>
              </a:defRPr>
            </a:pPr>
            <a:r>
              <a:t>Q2: How is EC2-to-DynamoDB security enforced?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• Followed AWS Principle of Least Privilege via IAM Instance Profiles.</a:t>
            </a:r>
            <a:br/>
            <a:r>
              <a:t>• EC2 AWS SDK fetches rotating temporary credentials from IMDS.</a:t>
            </a:r>
            <a:br/>
            <a:r>
              <a:t>• Zero AWS Secret Access Keys are ever hardcoded in source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74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1000"/>
              </a:spcAft>
              <a:defRPr sz="1300" b="1">
                <a:solidFill>
                  <a:srgbClr val="7A1F1F"/>
                </a:solidFill>
                <a:latin typeface="Arial"/>
              </a:defRPr>
            </a:pPr>
            <a:r>
              <a:t>Q3: What is the role of PM2 on EC2?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• Production process supervisor keeping Node.js running as a background daemon.</a:t>
            </a:r>
            <a:br/>
            <a:r>
              <a:t>• Automatically restarts application upon uncaught exceptions or memory limits.</a:t>
            </a:r>
            <a:br/>
            <a:r>
              <a:t>• Ensures zero-downtime auto-start when the EC2 instance reboots.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852160"/>
            <a:ext cx="10728655" cy="640080"/>
          </a:xfrm>
          <a:prstGeom prst="roundRect">
            <a:avLst/>
          </a:prstGeom>
          <a:solidFill>
            <a:srgbClr val="FEF9EE"/>
          </a:solidFill>
          <a:ln w="12700">
            <a:solidFill>
              <a:srgbClr val="C58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 bIns="91440"/>
          <a:lstStyle/>
          <a:p>
            <a:pPr algn="ctr">
              <a:defRPr sz="1100" b="0">
                <a:solidFill>
                  <a:srgbClr val="0F172A"/>
                </a:solidFill>
                <a:latin typeface="Arial"/>
              </a:defRPr>
            </a:pPr>
            <a:r>
              <a:rPr b="1"/>
              <a:t>💡 Speaker Cue (What to say): Focus on NoSQL horizontal scalability, IAM temporary credentials, and daemonized process management.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C58C1F"/>
                </a:solidFill>
                <a:latin typeface="Arial"/>
              </a:defRPr>
            </a:pPr>
            <a:r>
              <a:t>SPICE ROUTE — CLOUD COMPUTING ARCHITECTURE</a:t>
            </a:r>
          </a:p>
          <a:p>
            <a:pPr>
              <a:defRPr sz="2400" b="1">
                <a:solidFill>
                  <a:srgbClr val="7A1F1F"/>
                </a:solidFill>
                <a:latin typeface="Arial"/>
              </a:defRPr>
            </a:pPr>
            <a:r>
              <a:t>Technical Viva Defense (Decoupling &amp; AI Engine)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1000"/>
              </a:spcAft>
              <a:defRPr sz="1300" b="1">
                <a:solidFill>
                  <a:srgbClr val="7A1F1F"/>
                </a:solidFill>
                <a:latin typeface="Arial"/>
              </a:defRPr>
            </a:pPr>
            <a:r>
              <a:t>Q4: Why decouple S3 frontend from EC2?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• Offloads 100% of static asset traffic (HTML, CSS, JS, Images) from server CPU.</a:t>
            </a:r>
            <a:br/>
            <a:r>
              <a:t>• Protects backend from being overwhelmed by image download traffic.</a:t>
            </a:r>
            <a:br/>
            <a:r>
              <a:t>• Enables sub-50ms edge caching across global Anycast networks.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74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1000"/>
              </a:spcAft>
              <a:defRPr sz="1300" b="1">
                <a:solidFill>
                  <a:srgbClr val="7A1F1F"/>
                </a:solidFill>
                <a:latin typeface="Arial"/>
              </a:defRPr>
            </a:pPr>
            <a:r>
              <a:t>Q5: How does the system achieve elasticity?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• Backend is 100% stateless, delegating persistence to DynamoDB.</a:t>
            </a:r>
            <a:br/>
            <a:r>
              <a:t>• EC2 instance is Auto Scaling Group (ASG) ready behind an Application Load Balancer.</a:t>
            </a:r>
            <a:br/>
            <a:r>
              <a:t>• Automatically spins up new instances based on CloudWatch CPU alarms.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74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1000"/>
              </a:spcAft>
              <a:defRPr sz="1300" b="1">
                <a:solidFill>
                  <a:srgbClr val="7A1F1F"/>
                </a:solidFill>
                <a:latin typeface="Arial"/>
              </a:defRPr>
            </a:pPr>
            <a:r>
              <a:t>Q6: What makes the AI Sommelier advanced?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• Combines strict Boolean dietary exclusions with continuous numeric calorie limits.</a:t>
            </a:r>
            <a:br/>
            <a:r>
              <a:t>• Evaluates macronutrients (Protein, Carbs, Fats) and allergen contraindications.</a:t>
            </a:r>
            <a:br/>
            <a:r>
              <a:t>• Provides instant clinical reasoning explaining why each dish is safe.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852160"/>
            <a:ext cx="10728655" cy="640080"/>
          </a:xfrm>
          <a:prstGeom prst="roundRect">
            <a:avLst/>
          </a:prstGeom>
          <a:solidFill>
            <a:srgbClr val="FEF9EE"/>
          </a:solidFill>
          <a:ln w="12700">
            <a:solidFill>
              <a:srgbClr val="C58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 bIns="91440"/>
          <a:lstStyle/>
          <a:p>
            <a:pPr algn="ctr">
              <a:defRPr sz="1100" b="0">
                <a:solidFill>
                  <a:srgbClr val="0F172A"/>
                </a:solidFill>
                <a:latin typeface="Arial"/>
              </a:defRPr>
            </a:pPr>
            <a:r>
              <a:rPr b="1"/>
              <a:t>💡 Speaker Cue (What to say): Demonstrate clear mastery of edge CDN caching, stateless horizontal scaling, and multi-variable AI filtering.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C58C1F"/>
                </a:solidFill>
                <a:latin typeface="Arial"/>
              </a:defRPr>
            </a:pPr>
            <a:r>
              <a:t>SPICE ROUTE — CLOUD COMPUTING ARCHITECTURE</a:t>
            </a:r>
          </a:p>
          <a:p>
            <a:pPr>
              <a:defRPr sz="2400" b="1">
                <a:solidFill>
                  <a:srgbClr val="7A1F1F"/>
                </a:solidFill>
                <a:latin typeface="Arial"/>
              </a:defRPr>
            </a:pPr>
            <a:r>
              <a:t>Live Production Endpoints &amp; Cloud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/>
          <a:lstStyle/>
          <a:p>
            <a:pPr algn="ctr">
              <a:spcAft>
                <a:spcPts val="300"/>
              </a:spcAft>
              <a:defRPr sz="1300" b="1">
                <a:solidFill>
                  <a:srgbClr val="7A1F1F"/>
                </a:solidFill>
                <a:latin typeface="Arial"/>
              </a:defRPr>
            </a:pPr>
            <a:r>
              <a:t>⚡ Global Production Frontend  •  Vercel Global Edge Network (HTTPS SSL)</a:t>
            </a:r>
          </a:p>
          <a:p>
            <a:pPr>
              <a:defRPr sz="1100" b="1">
                <a:solidFill>
                  <a:srgbClr val="C58C1F"/>
                </a:solidFill>
                <a:latin typeface="Courier New"/>
              </a:defRPr>
            </a:pPr>
            <a:r>
              <a:t>🔗 https://spice-route-restaurant-flame.vercel.app/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/>
          <a:lstStyle/>
          <a:p>
            <a:pPr algn="ctr">
              <a:spcAft>
                <a:spcPts val="300"/>
              </a:spcAft>
              <a:defRPr sz="1300" b="1">
                <a:solidFill>
                  <a:srgbClr val="7A1F1F"/>
                </a:solidFill>
                <a:latin typeface="Arial"/>
              </a:defRPr>
            </a:pPr>
            <a:r>
              <a:t>🪣 AWS Storage Website Tier  •  Amazon S3 Static Website Hosting (ap-south-1)</a:t>
            </a:r>
          </a:p>
          <a:p>
            <a:pPr>
              <a:defRPr sz="1100" b="1">
                <a:solidFill>
                  <a:srgbClr val="C58C1F"/>
                </a:solidFill>
                <a:latin typeface="Courier New"/>
              </a:defRPr>
            </a:pPr>
            <a:r>
              <a:t>🔗 http://spice-route-restaurant-lakshi-2026.s3-website.ap-south-1.amazonaws.com/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1188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/>
          <a:lstStyle/>
          <a:p>
            <a:pPr algn="ctr">
              <a:spcAft>
                <a:spcPts val="300"/>
              </a:spcAft>
              <a:defRPr sz="1300" b="1">
                <a:solidFill>
                  <a:srgbClr val="7A1F1F"/>
                </a:solidFill>
                <a:latin typeface="Arial"/>
              </a:defRPr>
            </a:pPr>
            <a:r>
              <a:t>💻 Compute REST API  •  Amazon EC2 t2.micro Linux Instance</a:t>
            </a:r>
          </a:p>
          <a:p>
            <a:pPr>
              <a:defRPr sz="1100" b="1">
                <a:solidFill>
                  <a:srgbClr val="C58C1F"/>
                </a:solidFill>
                <a:latin typeface="Courier New"/>
              </a:defRPr>
            </a:pPr>
            <a:r>
              <a:t>🔗 http://65.0.105.182:3000/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1772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/>
          <a:lstStyle/>
          <a:p>
            <a:pPr algn="ctr">
              <a:spcAft>
                <a:spcPts val="300"/>
              </a:spcAft>
              <a:defRPr sz="1300" b="1">
                <a:solidFill>
                  <a:srgbClr val="7A1F1F"/>
                </a:solidFill>
                <a:latin typeface="Arial"/>
              </a:defRPr>
            </a:pPr>
            <a:r>
              <a:t>🩺 Live Cloud Health Probe  •  Real-Time Telemetry &amp; Process Monitor</a:t>
            </a:r>
          </a:p>
          <a:p>
            <a:pPr>
              <a:defRPr sz="1100" b="1">
                <a:solidFill>
                  <a:srgbClr val="C58C1F"/>
                </a:solidFill>
                <a:latin typeface="Courier New"/>
              </a:defRPr>
            </a:pPr>
            <a:r>
              <a:t>🔗 http://65.0.105.182:3000/health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852160"/>
            <a:ext cx="10728655" cy="640080"/>
          </a:xfrm>
          <a:prstGeom prst="roundRect">
            <a:avLst/>
          </a:prstGeom>
          <a:solidFill>
            <a:srgbClr val="FEF9EE"/>
          </a:solidFill>
          <a:ln w="12700">
            <a:solidFill>
              <a:srgbClr val="C58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 bIns="91440"/>
          <a:lstStyle/>
          <a:p>
            <a:pPr algn="ctr">
              <a:defRPr sz="1100" b="0">
                <a:solidFill>
                  <a:srgbClr val="0F172A"/>
                </a:solidFill>
                <a:latin typeface="Arial"/>
              </a:defRPr>
            </a:pPr>
            <a:r>
              <a:rPr b="1"/>
              <a:t>💡 Speaker Cue (What to say): Point to these live links to show faculty that your application is 100% deployed and running across multiple cloud tiers.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C58C1F"/>
                </a:solidFill>
                <a:latin typeface="Arial"/>
              </a:defRPr>
            </a:pPr>
            <a:r>
              <a:t>PROJECT SUMMARY &amp; CONCLUSION</a:t>
            </a:r>
          </a:p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🌿 Spice Route Cloud Platform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✔ Decoupled 3-Tier Architecture ensures sub-50ms static delivery and isolated compute elasticity.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✔ Amazon DynamoDB eliminates flash-rush connection pool bottlenecks with on-demand scaling.</a:t>
            </a:r>
          </a:p>
          <a:p>
            <a:pPr>
              <a:spcAft>
                <a:spcPts val="28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✔ Enterprise IAM security with zero hardcoded credentials and 100% AWS Free-Tier compliance ($0.00).</a:t>
            </a:r>
          </a:p>
          <a:p>
            <a:pPr>
              <a:defRPr sz="1800" b="1">
                <a:solidFill>
                  <a:srgbClr val="C58C1F"/>
                </a:solidFill>
                <a:latin typeface="Arial"/>
              </a:defRPr>
            </a:pPr>
            <a:r>
              <a:t>✨ Thank you! We are now open for faculty questions and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